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Trade Gothic Condensed Bold" charset="1" panose="020B0806040303020004"/>
      <p:regular r:id="rId15"/>
    </p:embeddedFont>
    <p:embeddedFont>
      <p:font typeface="Trade Gothic Condensed" charset="1" panose="020B0506040303020004"/>
      <p:regular r:id="rId16"/>
    </p:embeddedFont>
    <p:embeddedFont>
      <p:font typeface="Times New Roman Bold" charset="1" panose="02020803070505020304"/>
      <p:regular r:id="rId20"/>
    </p:embeddedFont>
    <p:embeddedFont>
      <p:font typeface="Barlow Bold" charset="1" panose="00000800000000000000"/>
      <p:regular r:id="rId24"/>
    </p:embeddedFont>
    <p:embeddedFont>
      <p:font typeface="Poppins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https://www.youtube.com/watch?v=iqDRY82-6Zs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16" Target="../media/image23.svg" Type="http://schemas.openxmlformats.org/officeDocument/2006/relationships/image"/><Relationship Id="rId17" Target="../media/image24.png" Type="http://schemas.openxmlformats.org/officeDocument/2006/relationships/image"/><Relationship Id="rId18" Target="https://blog.apnic.net/2023/02/13/automation-tools-paramiko-netmiko-napalm-ansible-nornir-or/" TargetMode="External" Type="http://schemas.openxmlformats.org/officeDocument/2006/relationships/hyperlink"/><Relationship Id="rId19" Target="https://www.marketsandmarkets.com/ResearchInsight/network-security-market.asp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06242" y="1681477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9610" y="3082785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80612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420" y="847725"/>
            <a:ext cx="12529033" cy="824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0"/>
              </a:lnSpc>
            </a:pPr>
          </a:p>
          <a:p>
            <a:pPr algn="just" marL="674265" indent="-337133" lvl="1">
              <a:lnSpc>
                <a:spcPts val="8941"/>
              </a:lnSpc>
              <a:buFont typeface="Arial"/>
              <a:buChar char="•"/>
            </a:pPr>
            <a:r>
              <a:rPr lang="en-US" b="true" sz="372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 </a:t>
            </a:r>
            <a:r>
              <a:rPr lang="en-US" sz="3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SIH26155</a:t>
            </a:r>
          </a:p>
          <a:p>
            <a:pPr algn="just" marL="674267" indent="-337133" lvl="1">
              <a:lnSpc>
                <a:spcPts val="8941"/>
              </a:lnSpc>
              <a:buFont typeface="Arial"/>
              <a:buChar char="•"/>
            </a:pPr>
            <a:r>
              <a:rPr lang="en-US" b="true" sz="372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AI-Driven Multi-Vendor Network Security Compliance Auditor</a:t>
            </a:r>
          </a:p>
          <a:p>
            <a:pPr algn="just" marL="674267" indent="-337133" lvl="1">
              <a:lnSpc>
                <a:spcPts val="8941"/>
              </a:lnSpc>
              <a:buFont typeface="Arial"/>
              <a:buChar char="•"/>
            </a:pPr>
            <a:r>
              <a:rPr lang="en-US" b="true" sz="372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Blockchain &amp; Cybersecurity</a:t>
            </a:r>
          </a:p>
          <a:p>
            <a:pPr algn="just" marL="674267" indent="-337133" lvl="1">
              <a:lnSpc>
                <a:spcPts val="8941"/>
              </a:lnSpc>
              <a:buFont typeface="Arial"/>
              <a:buChar char="•"/>
            </a:pPr>
            <a:r>
              <a:rPr lang="en-US" b="true" sz="372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674267" indent="-337133" lvl="1">
              <a:lnSpc>
                <a:spcPts val="8941"/>
              </a:lnSpc>
              <a:buFont typeface="Arial"/>
              <a:buChar char="•"/>
            </a:pPr>
            <a:r>
              <a:rPr lang="en-US" b="true" sz="372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674267" indent="-337133" lvl="1">
              <a:lnSpc>
                <a:spcPts val="8941"/>
              </a:lnSpc>
              <a:buFont typeface="Arial"/>
              <a:buChar char="•"/>
            </a:pPr>
            <a:r>
              <a:rPr lang="en-US" b="true" sz="372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Name: </a:t>
            </a:r>
            <a:r>
              <a:rPr lang="en-US" sz="3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NetSentry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9534525"/>
            <a:ext cx="18288000" cy="752475"/>
            <a:chOff x="0" y="0"/>
            <a:chExt cx="24384000" cy="1003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1003300"/>
            </a:xfrm>
            <a:custGeom>
              <a:avLst/>
              <a:gdLst/>
              <a:ahLst/>
              <a:cxnLst/>
              <a:rect r="r" b="b" t="t" l="l"/>
              <a:pathLst>
                <a:path h="1003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144500" y="9687520"/>
            <a:ext cx="4267200" cy="547688"/>
            <a:chOff x="0" y="0"/>
            <a:chExt cx="56896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53225" y="9677995"/>
            <a:ext cx="4806001" cy="547688"/>
            <a:chOff x="0" y="0"/>
            <a:chExt cx="6408001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96133"/>
            <a:ext cx="18288000" cy="790867"/>
            <a:chOff x="0" y="0"/>
            <a:chExt cx="24384000" cy="1054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54490"/>
            </a:xfrm>
            <a:custGeom>
              <a:avLst/>
              <a:gdLst/>
              <a:ahLst/>
              <a:cxnLst/>
              <a:rect r="r" b="b" t="t" l="l"/>
              <a:pathLst>
                <a:path h="105449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54490"/>
                  </a:lnTo>
                  <a:lnTo>
                    <a:pt x="0" y="105449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7173" y="-195013"/>
            <a:ext cx="11800299" cy="1988026"/>
            <a:chOff x="0" y="0"/>
            <a:chExt cx="15733732" cy="26507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33733" cy="2650702"/>
            </a:xfrm>
            <a:custGeom>
              <a:avLst/>
              <a:gdLst/>
              <a:ahLst/>
              <a:cxnLst/>
              <a:rect r="r" b="b" t="t" l="l"/>
              <a:pathLst>
                <a:path h="2650702" w="15733733">
                  <a:moveTo>
                    <a:pt x="0" y="0"/>
                  </a:moveTo>
                  <a:lnTo>
                    <a:pt x="15733733" y="0"/>
                  </a:lnTo>
                  <a:lnTo>
                    <a:pt x="15733733" y="2650702"/>
                  </a:lnTo>
                  <a:lnTo>
                    <a:pt x="0" y="2650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199" r="-39481" b="-10444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5733732" cy="2679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One</a:t>
              </a: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Tool. Every Device. Zero Blind Spots.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44500" y="968752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53225" y="9649420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0" y="147046"/>
            <a:ext cx="2389752" cy="1303909"/>
          </a:xfrm>
          <a:custGeom>
            <a:avLst/>
            <a:gdLst/>
            <a:ahLst/>
            <a:cxnLst/>
            <a:rect r="r" b="b" t="t" l="l"/>
            <a:pathLst>
              <a:path h="1303909" w="2389752">
                <a:moveTo>
                  <a:pt x="0" y="0"/>
                </a:moveTo>
                <a:lnTo>
                  <a:pt x="2389752" y="0"/>
                </a:lnTo>
                <a:lnTo>
                  <a:pt x="2389752" y="1303908"/>
                </a:lnTo>
                <a:lnTo>
                  <a:pt x="0" y="13039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36475" y="1793013"/>
            <a:ext cx="17639501" cy="7213016"/>
          </a:xfrm>
          <a:custGeom>
            <a:avLst/>
            <a:gdLst/>
            <a:ahLst/>
            <a:cxnLst/>
            <a:rect r="r" b="b" t="t" l="l"/>
            <a:pathLst>
              <a:path h="7213016" w="17639501">
                <a:moveTo>
                  <a:pt x="0" y="0"/>
                </a:moveTo>
                <a:lnTo>
                  <a:pt x="17639501" y="0"/>
                </a:lnTo>
                <a:lnTo>
                  <a:pt x="17639501" y="7213016"/>
                </a:lnTo>
                <a:lnTo>
                  <a:pt x="0" y="72130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568" r="0" b="-16991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91312" y="8948879"/>
            <a:ext cx="1054259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b="true" sz="2514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  <a:hlinkClick r:id="rId7" tooltip="https://www.youtube.com/watch?v=iqDRY82-6Zs"/>
              </a:rPr>
              <a:t>Explainer Video</a:t>
            </a:r>
            <a:r>
              <a:rPr lang="en-US" sz="2514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20478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607153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72300" y="9711928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698276" y="-16802"/>
            <a:ext cx="2494474" cy="1177843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0" y="9711928"/>
            <a:ext cx="18288000" cy="575072"/>
            <a:chOff x="0" y="0"/>
            <a:chExt cx="24384000" cy="7667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766762"/>
            </a:xfrm>
            <a:custGeom>
              <a:avLst/>
              <a:gdLst/>
              <a:ahLst/>
              <a:cxnLst/>
              <a:rect r="r" b="b" t="t" l="l"/>
              <a:pathLst>
                <a:path h="76676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6762"/>
                  </a:lnTo>
                  <a:lnTo>
                    <a:pt x="0" y="76676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144500" y="9687520"/>
            <a:ext cx="4267200" cy="547688"/>
            <a:chOff x="0" y="0"/>
            <a:chExt cx="56896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53225" y="9711928"/>
            <a:ext cx="4806001" cy="547688"/>
            <a:chOff x="0" y="0"/>
            <a:chExt cx="6408001" cy="730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95250" y="51796"/>
            <a:ext cx="2389752" cy="1303909"/>
          </a:xfrm>
          <a:custGeom>
            <a:avLst/>
            <a:gdLst/>
            <a:ahLst/>
            <a:cxnLst/>
            <a:rect r="r" b="b" t="t" l="l"/>
            <a:pathLst>
              <a:path h="1303909" w="2389752">
                <a:moveTo>
                  <a:pt x="0" y="0"/>
                </a:moveTo>
                <a:lnTo>
                  <a:pt x="2389752" y="0"/>
                </a:lnTo>
                <a:lnTo>
                  <a:pt x="2389752" y="1303908"/>
                </a:lnTo>
                <a:lnTo>
                  <a:pt x="0" y="13039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99626" y="857983"/>
            <a:ext cx="15951450" cy="8234936"/>
          </a:xfrm>
          <a:custGeom>
            <a:avLst/>
            <a:gdLst/>
            <a:ahLst/>
            <a:cxnLst/>
            <a:rect r="r" b="b" t="t" l="l"/>
            <a:pathLst>
              <a:path h="8234936" w="15951450">
                <a:moveTo>
                  <a:pt x="0" y="0"/>
                </a:moveTo>
                <a:lnTo>
                  <a:pt x="15951450" y="0"/>
                </a:lnTo>
                <a:lnTo>
                  <a:pt x="15951450" y="8234936"/>
                </a:lnTo>
                <a:lnTo>
                  <a:pt x="0" y="823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6211550" y="4329112"/>
            <a:ext cx="331470" cy="202883"/>
            <a:chOff x="0" y="0"/>
            <a:chExt cx="441960" cy="2705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607" y="47700"/>
              <a:ext cx="342268" cy="172010"/>
            </a:xfrm>
            <a:custGeom>
              <a:avLst/>
              <a:gdLst/>
              <a:ahLst/>
              <a:cxnLst/>
              <a:rect r="r" b="b" t="t" l="l"/>
              <a:pathLst>
                <a:path h="172010" w="342268">
                  <a:moveTo>
                    <a:pt x="258003" y="172010"/>
                  </a:moveTo>
                  <a:cubicBezTo>
                    <a:pt x="45913" y="142800"/>
                    <a:pt x="33213" y="138990"/>
                    <a:pt x="23053" y="128830"/>
                  </a:cubicBezTo>
                  <a:cubicBezTo>
                    <a:pt x="11623" y="118670"/>
                    <a:pt x="2733" y="102160"/>
                    <a:pt x="1463" y="86920"/>
                  </a:cubicBezTo>
                  <a:cubicBezTo>
                    <a:pt x="-1077" y="72950"/>
                    <a:pt x="1463" y="53900"/>
                    <a:pt x="9083" y="41200"/>
                  </a:cubicBezTo>
                  <a:cubicBezTo>
                    <a:pt x="15433" y="28500"/>
                    <a:pt x="29403" y="14530"/>
                    <a:pt x="43373" y="8180"/>
                  </a:cubicBezTo>
                  <a:cubicBezTo>
                    <a:pt x="56073" y="3100"/>
                    <a:pt x="75123" y="560"/>
                    <a:pt x="90363" y="4370"/>
                  </a:cubicBezTo>
                  <a:cubicBezTo>
                    <a:pt x="104333" y="6910"/>
                    <a:pt x="120843" y="17070"/>
                    <a:pt x="129733" y="28500"/>
                  </a:cubicBezTo>
                  <a:cubicBezTo>
                    <a:pt x="139893" y="39930"/>
                    <a:pt x="147513" y="56440"/>
                    <a:pt x="147513" y="71680"/>
                  </a:cubicBezTo>
                  <a:cubicBezTo>
                    <a:pt x="146243" y="90730"/>
                    <a:pt x="134813" y="122480"/>
                    <a:pt x="118303" y="135180"/>
                  </a:cubicBezTo>
                  <a:cubicBezTo>
                    <a:pt x="101793" y="146610"/>
                    <a:pt x="68773" y="150420"/>
                    <a:pt x="49723" y="145340"/>
                  </a:cubicBezTo>
                  <a:cubicBezTo>
                    <a:pt x="34483" y="141530"/>
                    <a:pt x="20513" y="128830"/>
                    <a:pt x="12893" y="117400"/>
                  </a:cubicBezTo>
                  <a:cubicBezTo>
                    <a:pt x="4003" y="104700"/>
                    <a:pt x="-1077" y="86920"/>
                    <a:pt x="193" y="71680"/>
                  </a:cubicBezTo>
                  <a:cubicBezTo>
                    <a:pt x="1463" y="56440"/>
                    <a:pt x="7813" y="38660"/>
                    <a:pt x="17973" y="27230"/>
                  </a:cubicBezTo>
                  <a:cubicBezTo>
                    <a:pt x="26863" y="17070"/>
                    <a:pt x="38293" y="8180"/>
                    <a:pt x="58613" y="3100"/>
                  </a:cubicBezTo>
                  <a:cubicBezTo>
                    <a:pt x="100523" y="-5790"/>
                    <a:pt x="227523" y="5640"/>
                    <a:pt x="275783" y="22150"/>
                  </a:cubicBezTo>
                  <a:cubicBezTo>
                    <a:pt x="302453" y="32310"/>
                    <a:pt x="322773" y="45010"/>
                    <a:pt x="332933" y="61520"/>
                  </a:cubicBezTo>
                  <a:cubicBezTo>
                    <a:pt x="341823" y="76760"/>
                    <a:pt x="344363" y="98350"/>
                    <a:pt x="340553" y="114860"/>
                  </a:cubicBezTo>
                  <a:cubicBezTo>
                    <a:pt x="336743" y="130100"/>
                    <a:pt x="324043" y="149150"/>
                    <a:pt x="310073" y="159310"/>
                  </a:cubicBezTo>
                  <a:cubicBezTo>
                    <a:pt x="296103" y="168200"/>
                    <a:pt x="258003" y="172010"/>
                    <a:pt x="258003" y="1720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036993" y="4148138"/>
            <a:ext cx="352425" cy="224790"/>
            <a:chOff x="0" y="0"/>
            <a:chExt cx="469900" cy="299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9030" y="50004"/>
              <a:ext cx="370590" cy="199800"/>
            </a:xfrm>
            <a:custGeom>
              <a:avLst/>
              <a:gdLst/>
              <a:ahLst/>
              <a:cxnLst/>
              <a:rect r="r" b="b" t="t" l="l"/>
              <a:pathLst>
                <a:path h="199800" w="370590">
                  <a:moveTo>
                    <a:pt x="65270" y="45246"/>
                  </a:moveTo>
                  <a:cubicBezTo>
                    <a:pt x="254500" y="18576"/>
                    <a:pt x="263390" y="4606"/>
                    <a:pt x="278630" y="796"/>
                  </a:cubicBezTo>
                  <a:cubicBezTo>
                    <a:pt x="293870" y="-1744"/>
                    <a:pt x="314190" y="2066"/>
                    <a:pt x="328160" y="8416"/>
                  </a:cubicBezTo>
                  <a:cubicBezTo>
                    <a:pt x="342130" y="16036"/>
                    <a:pt x="356100" y="30006"/>
                    <a:pt x="363720" y="45246"/>
                  </a:cubicBezTo>
                  <a:cubicBezTo>
                    <a:pt x="370070" y="59216"/>
                    <a:pt x="372610" y="79536"/>
                    <a:pt x="368800" y="94776"/>
                  </a:cubicBezTo>
                  <a:cubicBezTo>
                    <a:pt x="366260" y="110016"/>
                    <a:pt x="356100" y="127796"/>
                    <a:pt x="344670" y="137956"/>
                  </a:cubicBezTo>
                  <a:cubicBezTo>
                    <a:pt x="331970" y="148116"/>
                    <a:pt x="314190" y="157006"/>
                    <a:pt x="297680" y="157006"/>
                  </a:cubicBezTo>
                  <a:cubicBezTo>
                    <a:pt x="277360" y="157006"/>
                    <a:pt x="244340" y="144306"/>
                    <a:pt x="230370" y="126526"/>
                  </a:cubicBezTo>
                  <a:cubicBezTo>
                    <a:pt x="217670" y="110016"/>
                    <a:pt x="211320" y="75726"/>
                    <a:pt x="217670" y="54136"/>
                  </a:cubicBezTo>
                  <a:cubicBezTo>
                    <a:pt x="224020" y="33816"/>
                    <a:pt x="249420" y="9686"/>
                    <a:pt x="271010" y="3336"/>
                  </a:cubicBezTo>
                  <a:cubicBezTo>
                    <a:pt x="291330" y="-3014"/>
                    <a:pt x="325620" y="7146"/>
                    <a:pt x="342130" y="18576"/>
                  </a:cubicBezTo>
                  <a:cubicBezTo>
                    <a:pt x="356100" y="27466"/>
                    <a:pt x="364990" y="45246"/>
                    <a:pt x="368800" y="60486"/>
                  </a:cubicBezTo>
                  <a:cubicBezTo>
                    <a:pt x="372610" y="76996"/>
                    <a:pt x="368800" y="98586"/>
                    <a:pt x="363720" y="111286"/>
                  </a:cubicBezTo>
                  <a:cubicBezTo>
                    <a:pt x="361180" y="120176"/>
                    <a:pt x="358640" y="125256"/>
                    <a:pt x="349750" y="131606"/>
                  </a:cubicBezTo>
                  <a:cubicBezTo>
                    <a:pt x="333240" y="146846"/>
                    <a:pt x="288790" y="168436"/>
                    <a:pt x="249420" y="179866"/>
                  </a:cubicBezTo>
                  <a:cubicBezTo>
                    <a:pt x="198620" y="193836"/>
                    <a:pt x="108450" y="202726"/>
                    <a:pt x="71620" y="198916"/>
                  </a:cubicBezTo>
                  <a:cubicBezTo>
                    <a:pt x="55110" y="197646"/>
                    <a:pt x="47490" y="195106"/>
                    <a:pt x="37330" y="187486"/>
                  </a:cubicBezTo>
                  <a:cubicBezTo>
                    <a:pt x="23360" y="178596"/>
                    <a:pt x="9390" y="158276"/>
                    <a:pt x="3040" y="143036"/>
                  </a:cubicBezTo>
                  <a:cubicBezTo>
                    <a:pt x="-770" y="131606"/>
                    <a:pt x="-770" y="117636"/>
                    <a:pt x="1770" y="106206"/>
                  </a:cubicBezTo>
                  <a:cubicBezTo>
                    <a:pt x="4310" y="94776"/>
                    <a:pt x="9390" y="82076"/>
                    <a:pt x="18280" y="73186"/>
                  </a:cubicBezTo>
                  <a:cubicBezTo>
                    <a:pt x="28440" y="61756"/>
                    <a:pt x="65270" y="45246"/>
                    <a:pt x="65270" y="4524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4792" y="-11874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Feasibility- Can we build? Can it matter?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0" y="9534525"/>
            <a:ext cx="18288000" cy="752475"/>
            <a:chOff x="0" y="0"/>
            <a:chExt cx="24384000" cy="1003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1003300"/>
            </a:xfrm>
            <a:custGeom>
              <a:avLst/>
              <a:gdLst/>
              <a:ahLst/>
              <a:cxnLst/>
              <a:rect r="r" b="b" t="t" l="l"/>
              <a:pathLst>
                <a:path h="1003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144500" y="9687520"/>
            <a:ext cx="4267200" cy="547688"/>
            <a:chOff x="0" y="0"/>
            <a:chExt cx="56896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53225" y="9677995"/>
            <a:ext cx="4806001" cy="547688"/>
            <a:chOff x="0" y="0"/>
            <a:chExt cx="6408001" cy="730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38225" y="1476798"/>
            <a:ext cx="15501256" cy="3559445"/>
          </a:xfrm>
          <a:custGeom>
            <a:avLst/>
            <a:gdLst/>
            <a:ahLst/>
            <a:cxnLst/>
            <a:rect r="r" b="b" t="t" l="l"/>
            <a:pathLst>
              <a:path h="3559445" w="15501256">
                <a:moveTo>
                  <a:pt x="0" y="0"/>
                </a:moveTo>
                <a:lnTo>
                  <a:pt x="15501256" y="0"/>
                </a:lnTo>
                <a:lnTo>
                  <a:pt x="15501256" y="3559445"/>
                </a:lnTo>
                <a:lnTo>
                  <a:pt x="0" y="3559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435" r="0" b="-121531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232620" y="7483612"/>
            <a:ext cx="14124895" cy="1803836"/>
          </a:xfrm>
          <a:custGeom>
            <a:avLst/>
            <a:gdLst/>
            <a:ahLst/>
            <a:cxnLst/>
            <a:rect r="r" b="b" t="t" l="l"/>
            <a:pathLst>
              <a:path h="1803836" w="14124895">
                <a:moveTo>
                  <a:pt x="0" y="0"/>
                </a:moveTo>
                <a:lnTo>
                  <a:pt x="14124896" y="0"/>
                </a:lnTo>
                <a:lnTo>
                  <a:pt x="14124896" y="1803836"/>
                </a:lnTo>
                <a:lnTo>
                  <a:pt x="0" y="18038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435" t="-408139" r="-9361" b="-1511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692143" y="5560118"/>
            <a:ext cx="10383920" cy="1676417"/>
          </a:xfrm>
          <a:custGeom>
            <a:avLst/>
            <a:gdLst/>
            <a:ahLst/>
            <a:cxnLst/>
            <a:rect r="r" b="b" t="t" l="l"/>
            <a:pathLst>
              <a:path h="1676417" w="10383920">
                <a:moveTo>
                  <a:pt x="0" y="0"/>
                </a:moveTo>
                <a:lnTo>
                  <a:pt x="10383920" y="0"/>
                </a:lnTo>
                <a:lnTo>
                  <a:pt x="10383920" y="1676417"/>
                </a:lnTo>
                <a:lnTo>
                  <a:pt x="0" y="16764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081" t="-235121" r="-12923" b="-103902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341870" y="5202931"/>
            <a:ext cx="33756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Three Device Demonstrables right now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0" y="147046"/>
            <a:ext cx="2389752" cy="1303909"/>
          </a:xfrm>
          <a:custGeom>
            <a:avLst/>
            <a:gdLst/>
            <a:ahLst/>
            <a:cxnLst/>
            <a:rect r="r" b="b" t="t" l="l"/>
            <a:pathLst>
              <a:path h="1303909" w="2389752">
                <a:moveTo>
                  <a:pt x="0" y="0"/>
                </a:moveTo>
                <a:lnTo>
                  <a:pt x="2389752" y="0"/>
                </a:lnTo>
                <a:lnTo>
                  <a:pt x="2389752" y="1303908"/>
                </a:lnTo>
                <a:lnTo>
                  <a:pt x="0" y="13039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</a:t>
              </a: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 Matters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79369" y="175621"/>
            <a:ext cx="2389752" cy="1303909"/>
          </a:xfrm>
          <a:custGeom>
            <a:avLst/>
            <a:gdLst/>
            <a:ahLst/>
            <a:cxnLst/>
            <a:rect r="r" b="b" t="t" l="l"/>
            <a:pathLst>
              <a:path h="1303909" w="2389752">
                <a:moveTo>
                  <a:pt x="0" y="0"/>
                </a:moveTo>
                <a:lnTo>
                  <a:pt x="2389752" y="0"/>
                </a:lnTo>
                <a:lnTo>
                  <a:pt x="2389752" y="1303908"/>
                </a:lnTo>
                <a:lnTo>
                  <a:pt x="0" y="13039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753225" y="9677995"/>
            <a:ext cx="4806001" cy="547688"/>
            <a:chOff x="0" y="0"/>
            <a:chExt cx="6408001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20918" y="1595752"/>
            <a:ext cx="16638382" cy="7913630"/>
          </a:xfrm>
          <a:custGeom>
            <a:avLst/>
            <a:gdLst/>
            <a:ahLst/>
            <a:cxnLst/>
            <a:rect r="r" b="b" t="t" l="l"/>
            <a:pathLst>
              <a:path h="7913630" w="16638382">
                <a:moveTo>
                  <a:pt x="0" y="0"/>
                </a:moveTo>
                <a:lnTo>
                  <a:pt x="16638382" y="0"/>
                </a:lnTo>
                <a:lnTo>
                  <a:pt x="16638382" y="7913630"/>
                </a:lnTo>
                <a:lnTo>
                  <a:pt x="0" y="7913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16618" y="2759578"/>
            <a:ext cx="456128" cy="24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368">
                <a:solidFill>
                  <a:srgbClr val="E2EEE8"/>
                </a:solidFill>
                <a:latin typeface="Barlow Bold"/>
                <a:ea typeface="Barlow Bold"/>
                <a:cs typeface="Barlow Bold"/>
                <a:sym typeface="Barlow Bold"/>
              </a:rPr>
              <a:t>(MVP)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147046"/>
            <a:ext cx="2389752" cy="1303909"/>
          </a:xfrm>
          <a:custGeom>
            <a:avLst/>
            <a:gdLst/>
            <a:ahLst/>
            <a:cxnLst/>
            <a:rect r="r" b="b" t="t" l="l"/>
            <a:pathLst>
              <a:path h="1303909" w="2389752">
                <a:moveTo>
                  <a:pt x="0" y="0"/>
                </a:moveTo>
                <a:lnTo>
                  <a:pt x="2389752" y="0"/>
                </a:lnTo>
                <a:lnTo>
                  <a:pt x="2389752" y="1303908"/>
                </a:lnTo>
                <a:lnTo>
                  <a:pt x="0" y="13039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254961" y="1371034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23932" y="1679554"/>
            <a:ext cx="621876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12"/>
              </a:lnSpc>
              <a:spcBef>
                <a:spcPct val="0"/>
              </a:spcBef>
            </a:pPr>
            <a:r>
              <a:rPr lang="en-US" sz="36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 Validation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46557" y="2293620"/>
            <a:ext cx="556987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sz="272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$2.2B to $3.6B market by 2032 (~6.8% CAGR); Gartner ties most cloud failures to customer misconfiguration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498297" y="1492050"/>
            <a:ext cx="1048261" cy="999123"/>
          </a:xfrm>
          <a:custGeom>
            <a:avLst/>
            <a:gdLst/>
            <a:ahLst/>
            <a:cxnLst/>
            <a:rect r="r" b="b" t="t" l="l"/>
            <a:pathLst>
              <a:path h="999123" w="1048261">
                <a:moveTo>
                  <a:pt x="0" y="0"/>
                </a:moveTo>
                <a:lnTo>
                  <a:pt x="1048260" y="0"/>
                </a:lnTo>
                <a:lnTo>
                  <a:pt x="1048260" y="999124"/>
                </a:lnTo>
                <a:lnTo>
                  <a:pt x="0" y="9991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03072" y="1371034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8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029742" y="1577275"/>
            <a:ext cx="720020" cy="828675"/>
          </a:xfrm>
          <a:custGeom>
            <a:avLst/>
            <a:gdLst/>
            <a:ahLst/>
            <a:cxnLst/>
            <a:rect r="r" b="b" t="t" l="l"/>
            <a:pathLst>
              <a:path h="828675" w="720020">
                <a:moveTo>
                  <a:pt x="0" y="0"/>
                </a:moveTo>
                <a:lnTo>
                  <a:pt x="720020" y="0"/>
                </a:lnTo>
                <a:lnTo>
                  <a:pt x="720020" y="828675"/>
                </a:lnTo>
                <a:lnTo>
                  <a:pt x="0" y="8286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3870" r="0" b="-387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036192" y="1548127"/>
            <a:ext cx="621876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12"/>
              </a:lnSpc>
              <a:spcBef>
                <a:spcPct val="0"/>
              </a:spcBef>
            </a:pPr>
            <a:r>
              <a:rPr lang="en-US" sz="36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Standards referenced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30582" y="4174808"/>
            <a:ext cx="641211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68"/>
              </a:lnSpc>
            </a:pPr>
            <a:r>
              <a:rPr lang="en-US" b="true" sz="1890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Click here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254961" y="5417820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2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546557" y="6341680"/>
            <a:ext cx="594595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5"/>
              </a:lnSpc>
              <a:spcBef>
                <a:spcPct val="0"/>
              </a:spcBef>
            </a:pPr>
            <a:r>
              <a:rPr lang="en-US" sz="2729" strike="noStrike" u="none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Netmiko, NAPALM for collection; NLP and LLM few-shot for unseen configs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23932" y="5708858"/>
            <a:ext cx="6052932" cy="107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5"/>
              </a:lnSpc>
            </a:pPr>
            <a:r>
              <a:rPr lang="en-US" sz="34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Technical references</a:t>
            </a:r>
          </a:p>
          <a:p>
            <a:pPr algn="just">
              <a:lnSpc>
                <a:spcPts val="4195"/>
              </a:lnSpc>
              <a:spcBef>
                <a:spcPct val="0"/>
              </a:spcBef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617005" y="5491549"/>
            <a:ext cx="1106927" cy="1044218"/>
          </a:xfrm>
          <a:custGeom>
            <a:avLst/>
            <a:gdLst/>
            <a:ahLst/>
            <a:cxnLst/>
            <a:rect r="r" b="b" t="t" l="l"/>
            <a:pathLst>
              <a:path h="1044218" w="1106927">
                <a:moveTo>
                  <a:pt x="0" y="0"/>
                </a:moveTo>
                <a:lnTo>
                  <a:pt x="1106927" y="0"/>
                </a:lnTo>
                <a:lnTo>
                  <a:pt x="1106927" y="1044218"/>
                </a:lnTo>
                <a:lnTo>
                  <a:pt x="0" y="10442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63164" t="-175244" r="-24590" b="-29791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925231" y="2211640"/>
            <a:ext cx="5194873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5"/>
              </a:lnSpc>
              <a:spcBef>
                <a:spcPct val="0"/>
              </a:spcBef>
            </a:pPr>
            <a:r>
              <a:rPr lang="en-US" sz="2729" strike="noStrike" u="none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C</a:t>
            </a:r>
            <a:r>
              <a:rPr lang="en-US" sz="2729" strike="noStrike" u="none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IS Benchmarks, NIST SP 800-53, DISA STIGs, ISO/IEC 27001 — mapped into the rule engine and normalized schema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722000" y="5335339"/>
            <a:ext cx="7315200" cy="3840480"/>
          </a:xfrm>
          <a:custGeom>
            <a:avLst/>
            <a:gdLst/>
            <a:ahLst/>
            <a:cxnLst/>
            <a:rect r="r" b="b" t="t" l="l"/>
            <a:pathLst>
              <a:path h="3840480" w="7315200">
                <a:moveTo>
                  <a:pt x="0" y="0"/>
                </a:moveTo>
                <a:lnTo>
                  <a:pt x="7315200" y="0"/>
                </a:lnTo>
                <a:lnTo>
                  <a:pt x="731520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58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925231" y="5681685"/>
            <a:ext cx="621876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5"/>
              </a:lnSpc>
              <a:spcBef>
                <a:spcPct val="0"/>
              </a:spcBef>
            </a:pPr>
            <a:r>
              <a:rPr lang="en-US" sz="349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Competitors studied</a:t>
            </a:r>
          </a:p>
          <a:p>
            <a:pPr algn="just" marL="0" indent="0" lvl="0">
              <a:lnSpc>
                <a:spcPts val="4195"/>
              </a:lnSpc>
              <a:spcBef>
                <a:spcPct val="0"/>
              </a:spcBef>
            </a:pP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690341" y="5461196"/>
            <a:ext cx="1197025" cy="905068"/>
          </a:xfrm>
          <a:custGeom>
            <a:avLst/>
            <a:gdLst/>
            <a:ahLst/>
            <a:cxnLst/>
            <a:rect r="r" b="b" t="t" l="l"/>
            <a:pathLst>
              <a:path h="905068" w="1197025">
                <a:moveTo>
                  <a:pt x="0" y="0"/>
                </a:moveTo>
                <a:lnTo>
                  <a:pt x="1197025" y="0"/>
                </a:lnTo>
                <a:lnTo>
                  <a:pt x="1197025" y="905068"/>
                </a:lnTo>
                <a:lnTo>
                  <a:pt x="0" y="90506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821800" y="6205560"/>
            <a:ext cx="5368477" cy="1686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8"/>
              </a:lnSpc>
              <a:spcBef>
                <a:spcPct val="0"/>
              </a:spcBef>
            </a:pPr>
            <a:r>
              <a:rPr lang="en-US" sz="2707" strike="noStrike" u="none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Tufin, AlgoSec, FireMon lead policy orchestration but struggle at multi-vendor scale; Cisco/Palo Alto tools stop at their own hardware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25231" y="4088065"/>
            <a:ext cx="356393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Click here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79618" y="8260078"/>
            <a:ext cx="335369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  <a:hlinkClick r:id="rId18" tooltip="https://blog.apnic.net/2023/02/13/automation-tools-paramiko-netmiko-napalm-ansible-nornir-or/"/>
              </a:rPr>
              <a:t>Click here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98285" y="8245791"/>
            <a:ext cx="91112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b="true" sz="1929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  <a:hlinkClick r:id="rId19" tooltip="https://www.marketsandmarkets.com/ResearchInsight/network-security-market.asp"/>
              </a:rPr>
              <a:t>Click here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753225" y="9677995"/>
            <a:ext cx="4806001" cy="547688"/>
            <a:chOff x="0" y="0"/>
            <a:chExt cx="6408001" cy="7302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DAHUEWyhOwU</dc:identifier>
  <dcterms:modified xsi:type="dcterms:W3CDTF">2011-08-01T06:04:30Z</dcterms:modified>
  <cp:revision>1</cp:revision>
  <dc:title>SIH2026-IDEA-Presentation-Format.pptx</dc:title>
</cp:coreProperties>
</file>